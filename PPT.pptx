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Bold" charset="1" panose="020B0704020202020204"/>
      <p:regular r:id="rId14"/>
    </p:embeddedFont>
    <p:embeddedFont>
      <p:font typeface="Canva Sans Bold" charset="1" panose="020B0803030501040103"/>
      <p:regular r:id="rId15"/>
    </p:embeddedFont>
    <p:embeddedFont>
      <p:font typeface="Canva Sans Bold Italics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38058" y="-1416859"/>
            <a:ext cx="11429497" cy="11415210"/>
            <a:chOff x="0" y="0"/>
            <a:chExt cx="15239329" cy="15220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39364" cy="15220314"/>
            </a:xfrm>
            <a:custGeom>
              <a:avLst/>
              <a:gdLst/>
              <a:ahLst/>
              <a:cxnLst/>
              <a:rect r="r" b="b" t="t" l="l"/>
              <a:pathLst>
                <a:path h="15220314" w="15239364">
                  <a:moveTo>
                    <a:pt x="0" y="0"/>
                  </a:moveTo>
                  <a:lnTo>
                    <a:pt x="15239364" y="0"/>
                  </a:lnTo>
                  <a:lnTo>
                    <a:pt x="15239364" y="15220314"/>
                  </a:lnTo>
                  <a:lnTo>
                    <a:pt x="0" y="15220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220818" y="-225263"/>
            <a:ext cx="10719965" cy="10231799"/>
            <a:chOff x="0" y="0"/>
            <a:chExt cx="14293287" cy="13642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93342" cy="13642467"/>
            </a:xfrm>
            <a:custGeom>
              <a:avLst/>
              <a:gdLst/>
              <a:ahLst/>
              <a:cxnLst/>
              <a:rect r="r" b="b" t="t" l="l"/>
              <a:pathLst>
                <a:path h="13642467" w="14293342">
                  <a:moveTo>
                    <a:pt x="7146671" y="10922"/>
                  </a:moveTo>
                  <a:cubicBezTo>
                    <a:pt x="4706366" y="0"/>
                    <a:pt x="2446655" y="1295654"/>
                    <a:pt x="1223391" y="3407283"/>
                  </a:cubicBezTo>
                  <a:cubicBezTo>
                    <a:pt x="127" y="5518912"/>
                    <a:pt x="0" y="8123555"/>
                    <a:pt x="1223391" y="10235184"/>
                  </a:cubicBezTo>
                  <a:cubicBezTo>
                    <a:pt x="2446782" y="12346812"/>
                    <a:pt x="4706366" y="13642467"/>
                    <a:pt x="7146671" y="13631545"/>
                  </a:cubicBezTo>
                  <a:cubicBezTo>
                    <a:pt x="9586976" y="13642467"/>
                    <a:pt x="11846687" y="12346813"/>
                    <a:pt x="13069951" y="10235184"/>
                  </a:cubicBezTo>
                  <a:cubicBezTo>
                    <a:pt x="14293214" y="8123555"/>
                    <a:pt x="14293342" y="5518785"/>
                    <a:pt x="13069951" y="3407283"/>
                  </a:cubicBezTo>
                  <a:cubicBezTo>
                    <a:pt x="11846560" y="1295781"/>
                    <a:pt x="9586976" y="0"/>
                    <a:pt x="7146671" y="10922"/>
                  </a:cubicBezTo>
                  <a:close/>
                </a:path>
              </a:pathLst>
            </a:custGeom>
            <a:solidFill>
              <a:srgbClr val="7C574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511156" y="452082"/>
            <a:ext cx="9300641" cy="8877110"/>
            <a:chOff x="0" y="0"/>
            <a:chExt cx="12400855" cy="11836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00788" cy="11836146"/>
            </a:xfrm>
            <a:custGeom>
              <a:avLst/>
              <a:gdLst/>
              <a:ahLst/>
              <a:cxnLst/>
              <a:rect r="r" b="b" t="t" l="l"/>
              <a:pathLst>
                <a:path h="11836146" w="12400788">
                  <a:moveTo>
                    <a:pt x="6200394" y="9525"/>
                  </a:moveTo>
                  <a:cubicBezTo>
                    <a:pt x="4083177" y="0"/>
                    <a:pt x="2122678" y="1124077"/>
                    <a:pt x="1061339" y="2956052"/>
                  </a:cubicBezTo>
                  <a:cubicBezTo>
                    <a:pt x="0" y="4788027"/>
                    <a:pt x="0" y="7047992"/>
                    <a:pt x="1061339" y="8879967"/>
                  </a:cubicBezTo>
                  <a:cubicBezTo>
                    <a:pt x="2122678" y="10711942"/>
                    <a:pt x="4083177" y="11836146"/>
                    <a:pt x="6200394" y="11826621"/>
                  </a:cubicBezTo>
                  <a:cubicBezTo>
                    <a:pt x="8317611" y="11836146"/>
                    <a:pt x="10278110" y="10711942"/>
                    <a:pt x="11339449" y="8879967"/>
                  </a:cubicBezTo>
                  <a:cubicBezTo>
                    <a:pt x="12400788" y="7047992"/>
                    <a:pt x="12400788" y="4788027"/>
                    <a:pt x="11339449" y="2956052"/>
                  </a:cubicBezTo>
                  <a:cubicBezTo>
                    <a:pt x="10278110" y="1124077"/>
                    <a:pt x="8317611" y="0"/>
                    <a:pt x="6200394" y="9525"/>
                  </a:cubicBezTo>
                  <a:close/>
                </a:path>
              </a:pathLst>
            </a:custGeom>
            <a:blipFill>
              <a:blip r:embed="rId3"/>
              <a:stretch>
                <a:fillRect l="-42670" t="-80" r="-42671" b="-8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460559" y="8743950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41708" y="8536871"/>
            <a:ext cx="1233501" cy="1233501"/>
          </a:xfrm>
          <a:custGeom>
            <a:avLst/>
            <a:gdLst/>
            <a:ahLst/>
            <a:cxnLst/>
            <a:rect r="r" b="b" t="t" l="l"/>
            <a:pathLst>
              <a:path h="1233501" w="1233501">
                <a:moveTo>
                  <a:pt x="0" y="0"/>
                </a:moveTo>
                <a:lnTo>
                  <a:pt x="1233501" y="0"/>
                </a:lnTo>
                <a:lnTo>
                  <a:pt x="1233501" y="1233501"/>
                </a:lnTo>
                <a:lnTo>
                  <a:pt x="0" y="12335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46879" y="1059781"/>
            <a:ext cx="1233501" cy="1233501"/>
          </a:xfrm>
          <a:custGeom>
            <a:avLst/>
            <a:gdLst/>
            <a:ahLst/>
            <a:cxnLst/>
            <a:rect r="r" b="b" t="t" l="l"/>
            <a:pathLst>
              <a:path h="1233501" w="1233501">
                <a:moveTo>
                  <a:pt x="0" y="0"/>
                </a:moveTo>
                <a:lnTo>
                  <a:pt x="1233501" y="0"/>
                </a:lnTo>
                <a:lnTo>
                  <a:pt x="1233501" y="1233501"/>
                </a:lnTo>
                <a:lnTo>
                  <a:pt x="0" y="12335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2379514"/>
            <a:ext cx="10008819" cy="397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2"/>
              </a:lnSpc>
            </a:pPr>
            <a:r>
              <a:rPr lang="en-US" b="true" sz="10182" spc="-528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AI-Based Voice </a:t>
            </a:r>
          </a:p>
          <a:p>
            <a:pPr algn="l">
              <a:lnSpc>
                <a:spcPts val="10182"/>
              </a:lnSpc>
            </a:pPr>
            <a:r>
              <a:rPr lang="en-US" b="true" sz="10182" spc="-528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Gender Recognition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02700" y="7350291"/>
            <a:ext cx="4428922" cy="139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</a:pPr>
          </a:p>
          <a:p>
            <a:pPr algn="l">
              <a:lnSpc>
                <a:spcPts val="3537"/>
              </a:lnSpc>
            </a:pPr>
            <a:r>
              <a:rPr lang="en-US" b="true" sz="3537" spc="-183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B Vennela Keerthika</a:t>
            </a:r>
          </a:p>
          <a:p>
            <a:pPr algn="l">
              <a:lnSpc>
                <a:spcPts val="3537"/>
              </a:lnSpc>
            </a:pPr>
            <a:r>
              <a:rPr lang="en-US" b="true" sz="3537" spc="-183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9.10.2025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5959" y="-1812493"/>
            <a:ext cx="5682386" cy="5682386"/>
          </a:xfrm>
          <a:custGeom>
            <a:avLst/>
            <a:gdLst/>
            <a:ahLst/>
            <a:cxnLst/>
            <a:rect r="r" b="b" t="t" l="l"/>
            <a:pathLst>
              <a:path h="5682386" w="5682386">
                <a:moveTo>
                  <a:pt x="0" y="0"/>
                </a:moveTo>
                <a:lnTo>
                  <a:pt x="5682386" y="0"/>
                </a:lnTo>
                <a:lnTo>
                  <a:pt x="5682386" y="5682386"/>
                </a:lnTo>
                <a:lnTo>
                  <a:pt x="0" y="568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03648" y="1028700"/>
            <a:ext cx="1695441" cy="1695441"/>
          </a:xfrm>
          <a:custGeom>
            <a:avLst/>
            <a:gdLst/>
            <a:ahLst/>
            <a:cxnLst/>
            <a:rect r="r" b="b" t="t" l="l"/>
            <a:pathLst>
              <a:path h="1695441" w="1695441">
                <a:moveTo>
                  <a:pt x="0" y="0"/>
                </a:moveTo>
                <a:lnTo>
                  <a:pt x="1695441" y="0"/>
                </a:lnTo>
                <a:lnTo>
                  <a:pt x="1695441" y="1695441"/>
                </a:lnTo>
                <a:lnTo>
                  <a:pt x="0" y="16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43652" y="9565929"/>
            <a:ext cx="1233501" cy="1233501"/>
          </a:xfrm>
          <a:custGeom>
            <a:avLst/>
            <a:gdLst/>
            <a:ahLst/>
            <a:cxnLst/>
            <a:rect r="r" b="b" t="t" l="l"/>
            <a:pathLst>
              <a:path h="1233501" w="1233501">
                <a:moveTo>
                  <a:pt x="0" y="0"/>
                </a:moveTo>
                <a:lnTo>
                  <a:pt x="1233501" y="0"/>
                </a:lnTo>
                <a:lnTo>
                  <a:pt x="1233501" y="1233501"/>
                </a:lnTo>
                <a:lnTo>
                  <a:pt x="0" y="12335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325986" y="835979"/>
            <a:ext cx="7627724" cy="156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5039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24496"/>
            <a:ext cx="16230600" cy="510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b="true" sz="4856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AI-based voice gender recognition is an application of machine learning that classifies a speaker's gender from their voice. By analyzing speech features such as pitch, timbre, and rhythm, AI models can predict whether a voice is male, female, or non-binary. 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55700" y="-466996"/>
            <a:ext cx="3887952" cy="3887952"/>
          </a:xfrm>
          <a:custGeom>
            <a:avLst/>
            <a:gdLst/>
            <a:ahLst/>
            <a:cxnLst/>
            <a:rect r="r" b="b" t="t" l="l"/>
            <a:pathLst>
              <a:path h="3887952" w="3887952">
                <a:moveTo>
                  <a:pt x="0" y="0"/>
                </a:moveTo>
                <a:lnTo>
                  <a:pt x="3887952" y="0"/>
                </a:lnTo>
                <a:lnTo>
                  <a:pt x="3887952" y="3887952"/>
                </a:lnTo>
                <a:lnTo>
                  <a:pt x="0" y="38879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6639" y="-2957887"/>
            <a:ext cx="10686369" cy="14545963"/>
          </a:xfrm>
          <a:custGeom>
            <a:avLst/>
            <a:gdLst/>
            <a:ahLst/>
            <a:cxnLst/>
            <a:rect r="r" b="b" t="t" l="l"/>
            <a:pathLst>
              <a:path h="14545963" w="10686369">
                <a:moveTo>
                  <a:pt x="0" y="0"/>
                </a:moveTo>
                <a:lnTo>
                  <a:pt x="10686369" y="0"/>
                </a:lnTo>
                <a:lnTo>
                  <a:pt x="10686369" y="14545963"/>
                </a:lnTo>
                <a:lnTo>
                  <a:pt x="0" y="14545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4925" y="-494925"/>
            <a:ext cx="1523625" cy="1523625"/>
          </a:xfrm>
          <a:custGeom>
            <a:avLst/>
            <a:gdLst/>
            <a:ahLst/>
            <a:cxnLst/>
            <a:rect r="r" b="b" t="t" l="l"/>
            <a:pathLst>
              <a:path h="1523625" w="1523625">
                <a:moveTo>
                  <a:pt x="0" y="0"/>
                </a:moveTo>
                <a:lnTo>
                  <a:pt x="1523625" y="0"/>
                </a:lnTo>
                <a:lnTo>
                  <a:pt x="1523625" y="1523625"/>
                </a:lnTo>
                <a:lnTo>
                  <a:pt x="0" y="1523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97770" y="8996770"/>
            <a:ext cx="1785156" cy="1785156"/>
          </a:xfrm>
          <a:custGeom>
            <a:avLst/>
            <a:gdLst/>
            <a:ahLst/>
            <a:cxnLst/>
            <a:rect r="r" b="b" t="t" l="l"/>
            <a:pathLst>
              <a:path h="1785156" w="1785156">
                <a:moveTo>
                  <a:pt x="0" y="0"/>
                </a:moveTo>
                <a:lnTo>
                  <a:pt x="1785156" y="0"/>
                </a:lnTo>
                <a:lnTo>
                  <a:pt x="1785156" y="1785156"/>
                </a:lnTo>
                <a:lnTo>
                  <a:pt x="0" y="1785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74016" y="2198556"/>
            <a:ext cx="8250691" cy="13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7"/>
              </a:lnSpc>
            </a:pPr>
            <a:r>
              <a:rPr lang="en-US" b="true" sz="9957" spc="-516" u="sng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Introduction</a:t>
            </a:r>
            <a:r>
              <a:rPr lang="en-US" b="true" sz="9957" spc="-516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4793" y="4587382"/>
            <a:ext cx="16605555" cy="196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b="true" sz="372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AI uses speech features—pitch, resonance—to detect gender. Deep learning increases accuracy. Applied in assistants, marketing, and security.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0249" y="8377068"/>
            <a:ext cx="3189453" cy="3189453"/>
          </a:xfrm>
          <a:custGeom>
            <a:avLst/>
            <a:gdLst/>
            <a:ahLst/>
            <a:cxnLst/>
            <a:rect r="r" b="b" t="t" l="l"/>
            <a:pathLst>
              <a:path h="3189453" w="3189453">
                <a:moveTo>
                  <a:pt x="0" y="0"/>
                </a:moveTo>
                <a:lnTo>
                  <a:pt x="3189453" y="0"/>
                </a:lnTo>
                <a:lnTo>
                  <a:pt x="3189453" y="3189453"/>
                </a:lnTo>
                <a:lnTo>
                  <a:pt x="0" y="3189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12004" y="600951"/>
            <a:ext cx="1233501" cy="1233501"/>
          </a:xfrm>
          <a:custGeom>
            <a:avLst/>
            <a:gdLst/>
            <a:ahLst/>
            <a:cxnLst/>
            <a:rect r="r" b="b" t="t" l="l"/>
            <a:pathLst>
              <a:path h="1233501" w="1233501">
                <a:moveTo>
                  <a:pt x="0" y="0"/>
                </a:moveTo>
                <a:lnTo>
                  <a:pt x="1233501" y="0"/>
                </a:lnTo>
                <a:lnTo>
                  <a:pt x="1233501" y="1233501"/>
                </a:lnTo>
                <a:lnTo>
                  <a:pt x="0" y="123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75139" y="3333455"/>
            <a:ext cx="2622906" cy="2622906"/>
          </a:xfrm>
          <a:custGeom>
            <a:avLst/>
            <a:gdLst/>
            <a:ahLst/>
            <a:cxnLst/>
            <a:rect r="r" b="b" t="t" l="l"/>
            <a:pathLst>
              <a:path h="2622906" w="2622906">
                <a:moveTo>
                  <a:pt x="0" y="0"/>
                </a:moveTo>
                <a:lnTo>
                  <a:pt x="2622906" y="0"/>
                </a:lnTo>
                <a:lnTo>
                  <a:pt x="2622906" y="2622906"/>
                </a:lnTo>
                <a:lnTo>
                  <a:pt x="0" y="26229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4478" y="2005902"/>
            <a:ext cx="7440538" cy="162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b="true" sz="11780" spc="-612" u="sng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Softwares</a:t>
            </a:r>
            <a:r>
              <a:rPr lang="en-US" b="true" sz="11780" spc="-612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2396" y="4538974"/>
            <a:ext cx="16066904" cy="376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0"/>
              </a:lnSpc>
            </a:pPr>
            <a:r>
              <a:rPr lang="en-US" b="true" sz="309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Programming Language: Python (widely used for AI and ML development.</a:t>
            </a:r>
          </a:p>
          <a:p>
            <a:pPr algn="just">
              <a:lnSpc>
                <a:spcPts val="4330"/>
              </a:lnSpc>
            </a:pPr>
            <a:r>
              <a:rPr lang="en-US" b="true" sz="309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Speech Processing: Librosa (for audio analysis), PyAudio (for audio input/output)</a:t>
            </a:r>
          </a:p>
          <a:p>
            <a:pPr algn="just">
              <a:lnSpc>
                <a:spcPts val="4330"/>
              </a:lnSpc>
            </a:pPr>
            <a:r>
              <a:rPr lang="en-US" b="true" sz="309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Machine Learning: Scikit-learn, TensorFlow, Keras (for building models)</a:t>
            </a:r>
          </a:p>
          <a:p>
            <a:pPr algn="just">
              <a:lnSpc>
                <a:spcPts val="4330"/>
              </a:lnSpc>
            </a:pPr>
            <a:r>
              <a:rPr lang="en-US" b="true" sz="309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Audio Feature Extraction: MFCC, Spectrograms, Chroma Features</a:t>
            </a:r>
          </a:p>
          <a:p>
            <a:pPr algn="just">
              <a:lnSpc>
                <a:spcPts val="4330"/>
              </a:lnSpc>
            </a:pPr>
            <a:r>
              <a:rPr lang="en-US" b="true" sz="309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Operating System: Windows/Linux/Mac (based on user preference)</a:t>
            </a:r>
          </a:p>
          <a:p>
            <a:pPr algn="just">
              <a:lnSpc>
                <a:spcPts val="4330"/>
              </a:lnSpc>
            </a:pPr>
            <a:r>
              <a:rPr lang="en-US" b="true" sz="309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Dataset Tools: Access to voice datasets like CommonVoice (Mozilla), VoxCeleb, etc.</a:t>
            </a:r>
          </a:p>
          <a:p>
            <a:pPr algn="just">
              <a:lnSpc>
                <a:spcPts val="433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0249" y="8377068"/>
            <a:ext cx="3189453" cy="3189453"/>
          </a:xfrm>
          <a:custGeom>
            <a:avLst/>
            <a:gdLst/>
            <a:ahLst/>
            <a:cxnLst/>
            <a:rect r="r" b="b" t="t" l="l"/>
            <a:pathLst>
              <a:path h="3189453" w="3189453">
                <a:moveTo>
                  <a:pt x="0" y="0"/>
                </a:moveTo>
                <a:lnTo>
                  <a:pt x="3189453" y="0"/>
                </a:lnTo>
                <a:lnTo>
                  <a:pt x="3189453" y="3189453"/>
                </a:lnTo>
                <a:lnTo>
                  <a:pt x="0" y="3189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12004" y="600951"/>
            <a:ext cx="1233501" cy="1233501"/>
          </a:xfrm>
          <a:custGeom>
            <a:avLst/>
            <a:gdLst/>
            <a:ahLst/>
            <a:cxnLst/>
            <a:rect r="r" b="b" t="t" l="l"/>
            <a:pathLst>
              <a:path h="1233501" w="1233501">
                <a:moveTo>
                  <a:pt x="0" y="0"/>
                </a:moveTo>
                <a:lnTo>
                  <a:pt x="1233501" y="0"/>
                </a:lnTo>
                <a:lnTo>
                  <a:pt x="1233501" y="1233501"/>
                </a:lnTo>
                <a:lnTo>
                  <a:pt x="0" y="123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71468" y="9670250"/>
            <a:ext cx="1233501" cy="1233501"/>
          </a:xfrm>
          <a:custGeom>
            <a:avLst/>
            <a:gdLst/>
            <a:ahLst/>
            <a:cxnLst/>
            <a:rect r="r" b="b" t="t" l="l"/>
            <a:pathLst>
              <a:path h="1233501" w="1233501">
                <a:moveTo>
                  <a:pt x="0" y="0"/>
                </a:moveTo>
                <a:lnTo>
                  <a:pt x="1233501" y="0"/>
                </a:lnTo>
                <a:lnTo>
                  <a:pt x="1233501" y="1233501"/>
                </a:lnTo>
                <a:lnTo>
                  <a:pt x="0" y="123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0353" y="2384442"/>
            <a:ext cx="6714796" cy="145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0"/>
              </a:lnSpc>
            </a:pPr>
            <a:r>
              <a:rPr lang="en-US" b="true" sz="10630" spc="-552" u="sng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6091" y="4530764"/>
            <a:ext cx="15543209" cy="275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2606" indent="-300869" lvl="2">
              <a:lnSpc>
                <a:spcPts val="5523"/>
              </a:lnSpc>
              <a:buFont typeface="Arial"/>
              <a:buChar char="⚬"/>
            </a:pPr>
            <a:r>
              <a:rPr lang="en-US" b="true" sz="394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Classifies gender from voice. </a:t>
            </a:r>
          </a:p>
          <a:p>
            <a:pPr algn="l" marL="902606" indent="-300869" lvl="2">
              <a:lnSpc>
                <a:spcPts val="5523"/>
              </a:lnSpc>
              <a:buFont typeface="Arial"/>
              <a:buChar char="⚬"/>
            </a:pPr>
            <a:r>
              <a:rPr lang="en-US" b="true" sz="394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Fits virtual assistants, security systems. </a:t>
            </a:r>
          </a:p>
          <a:p>
            <a:pPr algn="l" marL="902606" indent="-300869" lvl="2">
              <a:lnSpc>
                <a:spcPts val="5523"/>
              </a:lnSpc>
              <a:buFont typeface="Arial"/>
              <a:buChar char="⚬"/>
            </a:pPr>
            <a:r>
              <a:rPr lang="en-US" b="true" sz="394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Enables gender-aware responses. </a:t>
            </a:r>
          </a:p>
          <a:p>
            <a:pPr algn="l" marL="902633" indent="-300878" lvl="2">
              <a:lnSpc>
                <a:spcPts val="5527"/>
              </a:lnSpc>
              <a:buFont typeface="Arial"/>
              <a:buChar char="⚬"/>
            </a:pPr>
            <a:r>
              <a:rPr lang="en-US" b="true" sz="394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</a:t>
            </a:r>
            <a:r>
              <a:rPr lang="en-US" b="true" sz="394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esearch expands to non-binary recognition and diversity.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218438" y="-1265196"/>
            <a:ext cx="3189453" cy="3189453"/>
          </a:xfrm>
          <a:custGeom>
            <a:avLst/>
            <a:gdLst/>
            <a:ahLst/>
            <a:cxnLst/>
            <a:rect r="r" b="b" t="t" l="l"/>
            <a:pathLst>
              <a:path h="3189453" w="3189453">
                <a:moveTo>
                  <a:pt x="0" y="0"/>
                </a:moveTo>
                <a:lnTo>
                  <a:pt x="3189453" y="0"/>
                </a:lnTo>
                <a:lnTo>
                  <a:pt x="3189453" y="3189453"/>
                </a:lnTo>
                <a:lnTo>
                  <a:pt x="0" y="3189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9955" y="1817667"/>
            <a:ext cx="5270775" cy="115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4"/>
              </a:lnSpc>
            </a:pPr>
            <a:r>
              <a:rPr lang="en-US" b="true" sz="8345" spc="-433" u="sng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Inputs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59504" y="-1266043"/>
            <a:ext cx="2532086" cy="2532086"/>
          </a:xfrm>
          <a:custGeom>
            <a:avLst/>
            <a:gdLst/>
            <a:ahLst/>
            <a:cxnLst/>
            <a:rect r="r" b="b" t="t" l="l"/>
            <a:pathLst>
              <a:path h="2532086" w="2532086">
                <a:moveTo>
                  <a:pt x="0" y="0"/>
                </a:moveTo>
                <a:lnTo>
                  <a:pt x="2532086" y="0"/>
                </a:lnTo>
                <a:lnTo>
                  <a:pt x="2532086" y="2532086"/>
                </a:lnTo>
                <a:lnTo>
                  <a:pt x="0" y="2532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43829" y="9258300"/>
            <a:ext cx="2532086" cy="2532086"/>
          </a:xfrm>
          <a:custGeom>
            <a:avLst/>
            <a:gdLst/>
            <a:ahLst/>
            <a:cxnLst/>
            <a:rect r="r" b="b" t="t" l="l"/>
            <a:pathLst>
              <a:path h="2532086" w="2532086">
                <a:moveTo>
                  <a:pt x="0" y="0"/>
                </a:moveTo>
                <a:lnTo>
                  <a:pt x="2532086" y="0"/>
                </a:lnTo>
                <a:lnTo>
                  <a:pt x="2532086" y="2532086"/>
                </a:lnTo>
                <a:lnTo>
                  <a:pt x="0" y="2532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32075" y="2736090"/>
            <a:ext cx="927225" cy="927225"/>
          </a:xfrm>
          <a:custGeom>
            <a:avLst/>
            <a:gdLst/>
            <a:ahLst/>
            <a:cxnLst/>
            <a:rect r="r" b="b" t="t" l="l"/>
            <a:pathLst>
              <a:path h="927225" w="927225">
                <a:moveTo>
                  <a:pt x="0" y="0"/>
                </a:moveTo>
                <a:lnTo>
                  <a:pt x="927225" y="0"/>
                </a:lnTo>
                <a:lnTo>
                  <a:pt x="927225" y="927225"/>
                </a:lnTo>
                <a:lnTo>
                  <a:pt x="0" y="92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0993" y="5143500"/>
            <a:ext cx="8532664" cy="8532664"/>
          </a:xfrm>
          <a:custGeom>
            <a:avLst/>
            <a:gdLst/>
            <a:ahLst/>
            <a:cxnLst/>
            <a:rect r="r" b="b" t="t" l="l"/>
            <a:pathLst>
              <a:path h="8532664" w="8532664">
                <a:moveTo>
                  <a:pt x="0" y="0"/>
                </a:moveTo>
                <a:lnTo>
                  <a:pt x="8532664" y="0"/>
                </a:lnTo>
                <a:lnTo>
                  <a:pt x="8532664" y="8532664"/>
                </a:lnTo>
                <a:lnTo>
                  <a:pt x="0" y="8532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65504" y="3891915"/>
            <a:ext cx="12636067" cy="4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b="true" sz="404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CommonVoice</a:t>
            </a:r>
          </a:p>
          <a:p>
            <a:pPr algn="l">
              <a:lnSpc>
                <a:spcPts val="5668"/>
              </a:lnSpc>
            </a:pPr>
          </a:p>
          <a:p>
            <a:pPr algn="l">
              <a:lnSpc>
                <a:spcPts val="5668"/>
              </a:lnSpc>
            </a:pPr>
            <a:r>
              <a:rPr lang="en-US" b="true" sz="404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VoxCeleb</a:t>
            </a:r>
          </a:p>
          <a:p>
            <a:pPr algn="l">
              <a:lnSpc>
                <a:spcPts val="5668"/>
              </a:lnSpc>
            </a:pPr>
          </a:p>
          <a:p>
            <a:pPr algn="l">
              <a:lnSpc>
                <a:spcPts val="5668"/>
              </a:lnSpc>
            </a:pPr>
            <a:r>
              <a:rPr lang="en-US" b="true" sz="404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TIMIT</a:t>
            </a:r>
          </a:p>
          <a:p>
            <a:pPr algn="l">
              <a:lnSpc>
                <a:spcPts val="5668"/>
              </a:lnSpc>
            </a:pPr>
          </a:p>
          <a:p>
            <a:pPr algn="l">
              <a:lnSpc>
                <a:spcPts val="5668"/>
              </a:lnSpc>
            </a:pPr>
            <a:r>
              <a:rPr lang="en-US" b="true" sz="404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LibriSpeech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43545" y="1683515"/>
            <a:ext cx="4857448" cy="10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0"/>
              </a:lnSpc>
            </a:pPr>
            <a:r>
              <a:rPr lang="en-US" b="true" sz="7690" spc="-399" u="sng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Datasets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19180"/>
            <a:ext cx="11571019" cy="470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0"/>
              </a:lnSpc>
            </a:pPr>
          </a:p>
          <a:p>
            <a:pPr algn="l">
              <a:lnSpc>
                <a:spcPts val="6250"/>
              </a:lnSpc>
            </a:pPr>
            <a:r>
              <a:rPr lang="en-US" b="true" sz="446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Voice Data</a:t>
            </a:r>
          </a:p>
          <a:p>
            <a:pPr algn="l">
              <a:lnSpc>
                <a:spcPts val="6250"/>
              </a:lnSpc>
            </a:pPr>
          </a:p>
          <a:p>
            <a:pPr algn="l">
              <a:lnSpc>
                <a:spcPts val="6250"/>
              </a:lnSpc>
            </a:pPr>
            <a:r>
              <a:rPr lang="en-US" b="true" sz="446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Speech Features</a:t>
            </a:r>
          </a:p>
          <a:p>
            <a:pPr algn="l">
              <a:lnSpc>
                <a:spcPts val="6250"/>
              </a:lnSpc>
            </a:pPr>
          </a:p>
          <a:p>
            <a:pPr algn="l">
              <a:lnSpc>
                <a:spcPts val="6250"/>
              </a:lnSpc>
            </a:pPr>
            <a:r>
              <a:rPr lang="en-US" b="true" sz="4464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Additional Metadata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7327" y="8814129"/>
            <a:ext cx="2532086" cy="2532086"/>
          </a:xfrm>
          <a:custGeom>
            <a:avLst/>
            <a:gdLst/>
            <a:ahLst/>
            <a:cxnLst/>
            <a:rect r="r" b="b" t="t" l="l"/>
            <a:pathLst>
              <a:path h="2532086" w="2532086">
                <a:moveTo>
                  <a:pt x="0" y="0"/>
                </a:moveTo>
                <a:lnTo>
                  <a:pt x="2532086" y="0"/>
                </a:lnTo>
                <a:lnTo>
                  <a:pt x="2532086" y="2532086"/>
                </a:lnTo>
                <a:lnTo>
                  <a:pt x="0" y="2532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6607" y="-1050405"/>
            <a:ext cx="2652148" cy="2652148"/>
          </a:xfrm>
          <a:custGeom>
            <a:avLst/>
            <a:gdLst/>
            <a:ahLst/>
            <a:cxnLst/>
            <a:rect r="r" b="b" t="t" l="l"/>
            <a:pathLst>
              <a:path h="2652148" w="2652148">
                <a:moveTo>
                  <a:pt x="0" y="0"/>
                </a:moveTo>
                <a:lnTo>
                  <a:pt x="2652148" y="0"/>
                </a:lnTo>
                <a:lnTo>
                  <a:pt x="2652148" y="2652148"/>
                </a:lnTo>
                <a:lnTo>
                  <a:pt x="0" y="2652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6355" y="1125010"/>
            <a:ext cx="9759083" cy="104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8"/>
              </a:lnSpc>
            </a:pPr>
            <a:r>
              <a:rPr lang="en-US" b="true" sz="7538" spc="-390" u="sng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Expexted Output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652780" y="5949845"/>
            <a:ext cx="6980720" cy="6980720"/>
          </a:xfrm>
          <a:custGeom>
            <a:avLst/>
            <a:gdLst/>
            <a:ahLst/>
            <a:cxnLst/>
            <a:rect r="r" b="b" t="t" l="l"/>
            <a:pathLst>
              <a:path h="6980720" w="6980720">
                <a:moveTo>
                  <a:pt x="0" y="0"/>
                </a:moveTo>
                <a:lnTo>
                  <a:pt x="6980720" y="0"/>
                </a:lnTo>
                <a:lnTo>
                  <a:pt x="6980720" y="6980720"/>
                </a:lnTo>
                <a:lnTo>
                  <a:pt x="0" y="69807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5009" y="3207791"/>
            <a:ext cx="15297983" cy="560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b="true" sz="3161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Predicted Gender: The primary output of the system is a classification label (e.g., Male, Female, Non-Binary).</a:t>
            </a:r>
          </a:p>
          <a:p>
            <a:pPr algn="l">
              <a:lnSpc>
                <a:spcPts val="4425"/>
              </a:lnSpc>
            </a:pPr>
          </a:p>
          <a:p>
            <a:pPr algn="l">
              <a:lnSpc>
                <a:spcPts val="4425"/>
              </a:lnSpc>
            </a:pPr>
            <a:r>
              <a:rPr lang="en-US" b="true" sz="3161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Confidence Scores: The AI model may also return a confidence level, indicating how sure it is of its prediction (e.g., 85% confident that the voice is female).</a:t>
            </a:r>
          </a:p>
          <a:p>
            <a:pPr algn="l">
              <a:lnSpc>
                <a:spcPts val="4425"/>
              </a:lnSpc>
            </a:pPr>
          </a:p>
          <a:p>
            <a:pPr algn="l">
              <a:lnSpc>
                <a:spcPts val="4425"/>
              </a:lnSpc>
            </a:pPr>
            <a:r>
              <a:rPr lang="en-US" b="true" sz="3161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Real-Time Processing: In applications like voice assistants, the output should be delivered in real-time, enabling interaction without delays.</a:t>
            </a:r>
          </a:p>
          <a:p>
            <a:pPr algn="l">
              <a:lnSpc>
                <a:spcPts val="442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4948" y="8855318"/>
            <a:ext cx="2532086" cy="2532086"/>
          </a:xfrm>
          <a:custGeom>
            <a:avLst/>
            <a:gdLst/>
            <a:ahLst/>
            <a:cxnLst/>
            <a:rect r="r" b="b" t="t" l="l"/>
            <a:pathLst>
              <a:path h="2532086" w="2532086">
                <a:moveTo>
                  <a:pt x="0" y="0"/>
                </a:moveTo>
                <a:lnTo>
                  <a:pt x="2532086" y="0"/>
                </a:lnTo>
                <a:lnTo>
                  <a:pt x="2532086" y="2532086"/>
                </a:lnTo>
                <a:lnTo>
                  <a:pt x="0" y="2532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37040" y="5872607"/>
            <a:ext cx="1006960" cy="1006960"/>
          </a:xfrm>
          <a:custGeom>
            <a:avLst/>
            <a:gdLst/>
            <a:ahLst/>
            <a:cxnLst/>
            <a:rect r="r" b="b" t="t" l="l"/>
            <a:pathLst>
              <a:path h="1006960" w="1006960">
                <a:moveTo>
                  <a:pt x="0" y="0"/>
                </a:moveTo>
                <a:lnTo>
                  <a:pt x="1006960" y="0"/>
                </a:lnTo>
                <a:lnTo>
                  <a:pt x="1006960" y="1006960"/>
                </a:lnTo>
                <a:lnTo>
                  <a:pt x="0" y="1006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80348" y="9162594"/>
            <a:ext cx="584771" cy="584771"/>
          </a:xfrm>
          <a:custGeom>
            <a:avLst/>
            <a:gdLst/>
            <a:ahLst/>
            <a:cxnLst/>
            <a:rect r="r" b="b" t="t" l="l"/>
            <a:pathLst>
              <a:path h="584771" w="584771">
                <a:moveTo>
                  <a:pt x="0" y="0"/>
                </a:moveTo>
                <a:lnTo>
                  <a:pt x="584771" y="0"/>
                </a:lnTo>
                <a:lnTo>
                  <a:pt x="584771" y="584771"/>
                </a:lnTo>
                <a:lnTo>
                  <a:pt x="0" y="584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902342" y="2322541"/>
            <a:ext cx="6356958" cy="6356958"/>
            <a:chOff x="0" y="0"/>
            <a:chExt cx="8475944" cy="8475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75980" cy="8475980"/>
            </a:xfrm>
            <a:custGeom>
              <a:avLst/>
              <a:gdLst/>
              <a:ahLst/>
              <a:cxnLst/>
              <a:rect r="r" b="b" t="t" l="l"/>
              <a:pathLst>
                <a:path h="8475980" w="8475980">
                  <a:moveTo>
                    <a:pt x="0" y="0"/>
                  </a:moveTo>
                  <a:lnTo>
                    <a:pt x="8475980" y="0"/>
                  </a:lnTo>
                  <a:lnTo>
                    <a:pt x="8475980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123950"/>
            <a:ext cx="9759083" cy="104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8"/>
              </a:lnSpc>
            </a:pPr>
            <a:r>
              <a:rPr lang="en-US" b="true" sz="7538" spc="-390" u="sng">
                <a:solidFill>
                  <a:srgbClr val="50392B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259" y="3555440"/>
            <a:ext cx="9759083" cy="454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b="true" sz="42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Voice gender recognition aids healthcare, security, customer service. Overcomes noise and inclusivity challenges. Future promises better accuracy, ethics, and diversity.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DAG1SauXXKs</dc:identifier>
  <dcterms:modified xsi:type="dcterms:W3CDTF">2011-08-01T06:04:30Z</dcterms:modified>
  <cp:revision>1</cp:revision>
  <dc:title>DOC-20251009-WA0027.</dc:title>
</cp:coreProperties>
</file>